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00e426e6c6410d" /><Relationship Type="http://schemas.openxmlformats.org/officeDocument/2006/relationships/extended-properties" Target="/docProps/app.xml" Id="Rc9d71ce38f3d449e" /><Relationship Type="http://schemas.openxmlformats.org/officeDocument/2006/relationships/officeDocument" Target="/ppt/presentation.xml" Id="Rf9d977aab2ec47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986427bc2242e3"/>
  </p:sldMasterIdLst>
  <p:notesMasterIdLst>
    <p:notesMasterId xmlns:r="http://schemas.openxmlformats.org/officeDocument/2006/relationships" r:id="R168c3807a23148ca"/>
  </p:notesMasterIdLst>
  <p:sldIdLst>
    <p:sldId xmlns:r="http://schemas.openxmlformats.org/officeDocument/2006/relationships" id="256" r:id="R3a537cce88424856"/>
    <p:sldId xmlns:r="http://schemas.openxmlformats.org/officeDocument/2006/relationships" id="257" r:id="R8a01a7962b7f45b5"/>
    <p:sldId xmlns:r="http://schemas.openxmlformats.org/officeDocument/2006/relationships" id="258" r:id="Ra14c0a9d718f45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2a302ef6134dcb" /><Relationship Type="http://schemas.openxmlformats.org/officeDocument/2006/relationships/slideMaster" Target="/ppt/slideMasters/slideMaster1.xml" Id="Rd5986427bc2242e3" /><Relationship Type="http://schemas.openxmlformats.org/officeDocument/2006/relationships/notesMaster" Target="/ppt/notesMasters/notesMaster1.xml" Id="R168c3807a23148ca" /><Relationship Type="http://schemas.openxmlformats.org/officeDocument/2006/relationships/presProps" Target="/ppt/presProps.xml" Id="R5015553d301042bb" /><Relationship Type="http://schemas.openxmlformats.org/officeDocument/2006/relationships/tableStyles" Target="/ppt/tableStyles.xml" Id="R0ea1629baa454467" /><Relationship Type="http://schemas.openxmlformats.org/officeDocument/2006/relationships/slide" Target="/ppt/slides/slide1.xml" Id="R3a537cce88424856" /><Relationship Type="http://schemas.openxmlformats.org/officeDocument/2006/relationships/slide" Target="/ppt/slides/slide2.xml" Id="R8a01a7962b7f45b5" /><Relationship Type="http://schemas.openxmlformats.org/officeDocument/2006/relationships/slide" Target="/ppt/slides/slide3.xml" Id="Ra14c0a9d718f45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0b4f63edad44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e7728beff545ef" /><Relationship Type="http://schemas.openxmlformats.org/officeDocument/2006/relationships/notesMaster" Target="/ppt/notesMasters/notesMaster1.xml" Id="Rf97269f4d1694c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37d4049b1e4d71" /><Relationship Type="http://schemas.openxmlformats.org/officeDocument/2006/relationships/notesMaster" Target="/ppt/notesMasters/notesMaster1.xml" Id="Rc290f536b14340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196adbe100426f" /><Relationship Type="http://schemas.openxmlformats.org/officeDocument/2006/relationships/notesMaster" Target="/ppt/notesMasters/notesMaster1.xml" Id="R23c1359d32dc49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4d99fde82145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e451a5c31b4557" /><Relationship Type="http://schemas.openxmlformats.org/officeDocument/2006/relationships/slideLayout" Target="/ppt/slideLayouts/slideLayout1.xml" Id="R769d33b9125e45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9d33b9125e45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6e295b9fb42bc" /><Relationship Type="http://schemas.openxmlformats.org/officeDocument/2006/relationships/notesSlide" Target="/ppt/notesSlides/notesSlide1.xml" Id="Re6b4651484a149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340fa90834075" /><Relationship Type="http://schemas.openxmlformats.org/officeDocument/2006/relationships/notesSlide" Target="/ppt/notesSlides/notesSlide2.xml" Id="R96a146671f5a47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da902d80c4acc" /><Relationship Type="http://schemas.openxmlformats.org/officeDocument/2006/relationships/notesSlide" Target="/ppt/notesSlides/notesSlide3.xml" Id="R4ce64f1eaa434a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0E237683-C38B-4840-A244-8BA9300B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49A9A"/>
                </a:solidFill>
              </a:defRPr>
            </a:pPr>
            <a:r>
              <a:rPr sz="900" b="1">
                <a:solidFill>
                  <a:srgbClr val="149A9A"/>
                </a:solidFill>
              </a:rPr>
              <a:t>ЗАКУПКИ · РЕДАКЦИЯ 01.08.2025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3F723D6-C80E-45D2-99AA-5C981EB8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571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</a:defRPr>
            </a:pPr>
            <a:r>
              <a:rPr sz="3150" b="1">
                <a:solidFill>
                  <a:srgbClr val="17324D"/>
                </a:solidFill>
              </a:rPr>
              <a:t>Как выбрать маршрут согласования закупки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1F0C75D-C159-4077-9F34-A3F68892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5429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080"/>
                </a:solidFill>
              </a:defRPr>
            </a:pPr>
            <a:r>
              <a:rPr sz="1575">
                <a:solidFill>
                  <a:srgbClr val="607080"/>
                </a:solidFill>
              </a:rPr>
              <a:t>Суммы недостаточно: сначала определите вид расхода — операционный или капитальный.</a:t>
            </a:r>
          </a:p>
        </p:txBody>
      </p:sp>
      <p:sp>
        <p:nvSpPr>
          <p:cNvPr id="4" name="signal">
            <a:extLst xmlns:a="http://schemas.openxmlformats.org/drawingml/2006/main">
              <a:ext uri="{FF2B5EF4-FFF2-40B4-BE49-F238E27FC236}">
                <a16:creationId xmlns:a16="http://schemas.microsoft.com/office/drawing/2014/main" id="{E51740BF-EB2C-4BED-8116-59063981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4292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4F1F1"/>
          </a:solidFill>
          <a:ln xmlns:a="http://schemas.openxmlformats.org/drawingml/2006/main" w="9525">
            <a:solidFill>
              <a:srgbClr val="149A9A"/>
            </a:solidFill>
            <a:prstDash val="solid"/>
          </a:ln>
        </p:spPr>
      </p:sp>
      <p:sp>
        <p:nvSpPr>
          <p:cNvPr id="5" name="signal-label">
            <a:extLst xmlns:a="http://schemas.openxmlformats.org/drawingml/2006/main">
              <a:ext uri="{FF2B5EF4-FFF2-40B4-BE49-F238E27FC236}">
                <a16:creationId xmlns:a16="http://schemas.microsoft.com/office/drawing/2014/main" id="{4CF324AE-B8CA-450E-BB06-F725DDAF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49A9A"/>
                </a:solidFill>
              </a:defRPr>
            </a:pPr>
            <a:r>
              <a:rPr sz="825" b="1">
                <a:solidFill>
                  <a:srgbClr val="149A9A"/>
                </a:solidFill>
              </a:rPr>
              <a:t>КЛЮЧЕВОЙ ВОПРОС</a:t>
            </a:r>
          </a:p>
        </p:txBody>
      </p:sp>
      <p:sp>
        <p:nvSpPr>
          <p:cNvPr id="6" name="signal-question">
            <a:extLst xmlns:a="http://schemas.openxmlformats.org/drawingml/2006/main">
              <a:ext uri="{FF2B5EF4-FFF2-40B4-BE49-F238E27FC236}">
                <a16:creationId xmlns:a16="http://schemas.microsoft.com/office/drawing/2014/main" id="{62319140-53A4-44F4-80F2-E6CD92C4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Покупка создаёт новый актив или поддерживает текущую деятельность?</a:t>
            </a:r>
          </a:p>
        </p:txBody>
      </p:sp>
      <p:sp>
        <p:nvSpPr>
          <p:cNvPr id="7" name="metric-0">
            <a:extLst xmlns:a="http://schemas.openxmlformats.org/drawingml/2006/main">
              <a:ext uri="{FF2B5EF4-FFF2-40B4-BE49-F238E27FC236}">
                <a16:creationId xmlns:a16="http://schemas.microsoft.com/office/drawing/2014/main" id="{ADFDE77B-B108-4156-A5D0-CE88E08A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200150"/>
            <a:ext cx="4533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E"/>
            </a:solidFill>
            <a:prstDash val="solid"/>
          </a:ln>
        </p:spPr>
      </p:sp>
      <p:sp>
        <p:nvSpPr>
          <p:cNvPr id="8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B964284E-634A-44CF-A6E7-947255CB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097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24D"/>
                </a:solidFill>
              </a:defRPr>
            </a:pPr>
            <a:r>
              <a:rPr sz="2250" b="1">
                <a:solidFill>
                  <a:srgbClr val="17324D"/>
                </a:solidFill>
              </a:rPr>
              <a:t>600 000 ₽</a:t>
            </a:r>
          </a:p>
        </p:txBody>
      </p:sp>
      <p:sp>
        <p:nvSpPr>
          <p:cNvPr id="9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5097BAD0-5652-4A68-A59A-F1EE59AC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859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07080"/>
                </a:solidFill>
              </a:defRPr>
            </a:pPr>
            <a:r>
              <a:rPr sz="1200">
                <a:solidFill>
                  <a:srgbClr val="607080"/>
                </a:solidFill>
              </a:rPr>
              <a:t>может иметь два разных маршрута</a:t>
            </a:r>
          </a:p>
        </p:txBody>
      </p:sp>
      <p:sp>
        <p:nvSpPr>
          <p:cNvPr id="10" name="metric-1">
            <a:extLst xmlns:a="http://schemas.openxmlformats.org/drawingml/2006/main">
              <a:ext uri="{FF2B5EF4-FFF2-40B4-BE49-F238E27FC236}">
                <a16:creationId xmlns:a16="http://schemas.microsoft.com/office/drawing/2014/main" id="{F97C1257-CF53-436C-AEE0-25E45853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86050"/>
            <a:ext cx="4533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E"/>
            </a:solidFill>
            <a:prstDash val="solid"/>
          </a:ln>
        </p:spPr>
      </p:sp>
      <p:sp>
        <p:nvSpPr>
          <p:cNvPr id="11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72898B0A-7930-4805-925F-EA577957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956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9A9A"/>
                </a:solidFill>
              </a:defRPr>
            </a:pPr>
            <a:r>
              <a:rPr sz="2250" b="1">
                <a:solidFill>
                  <a:srgbClr val="149A9A"/>
                </a:solidFill>
              </a:rPr>
              <a:t>2–3</a:t>
            </a:r>
          </a:p>
        </p:txBody>
      </p:sp>
      <p:sp>
        <p:nvSpPr>
          <p:cNvPr id="12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804C3004-FA32-4B29-9806-C660DAF4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718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07080"/>
                </a:solidFill>
              </a:defRPr>
            </a:pPr>
            <a:r>
              <a:rPr sz="1200">
                <a:solidFill>
                  <a:srgbClr val="607080"/>
                </a:solidFill>
              </a:rPr>
              <a:t>коммерческих предложения</a:t>
            </a:r>
          </a:p>
        </p:txBody>
      </p:sp>
      <p:sp>
        <p:nvSpPr>
          <p:cNvPr id="13" name="metric-2">
            <a:extLst xmlns:a="http://schemas.openxmlformats.org/drawingml/2006/main">
              <a:ext uri="{FF2B5EF4-FFF2-40B4-BE49-F238E27FC236}">
                <a16:creationId xmlns:a16="http://schemas.microsoft.com/office/drawing/2014/main" id="{321E058E-4F0F-4F77-B755-BF17D9ED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171950"/>
            <a:ext cx="4533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E"/>
            </a:solidFill>
            <a:prstDash val="solid"/>
          </a:ln>
        </p:spPr>
      </p:sp>
      <p:sp>
        <p:nvSpPr>
          <p:cNvPr id="14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69379A73-7611-4EA0-830C-E493EF96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815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1B94A"/>
                </a:solidFill>
              </a:defRPr>
            </a:pPr>
            <a:r>
              <a:rPr sz="2250" b="1">
                <a:solidFill>
                  <a:srgbClr val="F1B94A"/>
                </a:solidFill>
              </a:rPr>
              <a:t>5–7 лет</a:t>
            </a:r>
          </a:p>
        </p:txBody>
      </p:sp>
      <p:sp>
        <p:nvSpPr>
          <p:cNvPr id="15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BF37D382-9CB0-416D-AF1B-DB7844F5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577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07080"/>
                </a:solidFill>
              </a:defRPr>
            </a:pPr>
            <a:r>
              <a:rPr sz="1200">
                <a:solidFill>
                  <a:srgbClr val="607080"/>
                </a:solidFill>
              </a:rPr>
              <a:t>срок хранения документов</a:t>
            </a:r>
          </a:p>
        </p:txBody>
      </p:sp>
      <p:sp>
        <p:nvSpPr>
          <p:cNvPr id="16" name="footer-1">
            <a:extLst xmlns:a="http://schemas.openxmlformats.org/drawingml/2006/main">
              <a:ext uri="{FF2B5EF4-FFF2-40B4-BE49-F238E27FC236}">
                <a16:creationId xmlns:a16="http://schemas.microsoft.com/office/drawing/2014/main" id="{82B2CB7B-8361-423D-957B-E9028EE2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07080"/>
                </a:solidFill>
              </a:defRPr>
            </a:pPr>
            <a:r>
              <a:rPr sz="750" b="1">
                <a:solidFill>
                  <a:srgbClr val="607080"/>
                </a:solidFill>
              </a:rPr>
              <a:t>ACME CORP  /  Политика закупок</a:t>
            </a:r>
          </a:p>
        </p:txBody>
      </p:sp>
      <p:sp>
        <p:nvSpPr>
          <p:cNvPr id="17" name="page-1">
            <a:extLst xmlns:a="http://schemas.openxmlformats.org/drawingml/2006/main">
              <a:ext uri="{FF2B5EF4-FFF2-40B4-BE49-F238E27FC236}">
                <a16:creationId xmlns:a16="http://schemas.microsoft.com/office/drawing/2014/main" id="{DF3F845C-E520-4D79-B77E-1519618C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49A9A"/>
                </a:solidFill>
              </a:defRPr>
            </a:pPr>
            <a:r>
              <a:rPr sz="750" b="1">
                <a:solidFill>
                  <a:srgbClr val="149A9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166449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2785D7E6-EC04-405F-9904-2BF58C3D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49A9A"/>
                </a:solidFill>
              </a:defRPr>
            </a:pPr>
            <a:r>
              <a:rPr sz="900" b="1">
                <a:solidFill>
                  <a:srgbClr val="149A9A"/>
                </a:solidFill>
              </a:rPr>
              <a:t>МАТРИЦА ПОРОГОВ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6B23A75-0E6A-4E46-AA97-132B86C8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Один бюджет — разные согласующие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85A6BE1-3E5F-4995-BB25-8C25ABB5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07080"/>
                </a:solidFill>
              </a:defRPr>
            </a:pPr>
            <a:r>
              <a:rPr sz="1200">
                <a:solidFill>
                  <a:srgbClr val="607080"/>
                </a:solidFill>
              </a:rPr>
              <a:t>Порог определяется суммой без НДС. Количество предложений — минимальное.</a:t>
            </a:r>
          </a:p>
        </p:txBody>
      </p:sp>
      <p:sp>
        <p:nvSpPr>
          <p:cNvPr id="4" name="opex-title">
            <a:extLst xmlns:a="http://schemas.openxmlformats.org/drawingml/2006/main">
              <a:ext uri="{FF2B5EF4-FFF2-40B4-BE49-F238E27FC236}">
                <a16:creationId xmlns:a16="http://schemas.microsoft.com/office/drawing/2014/main" id="{E7E80520-704D-4104-8B07-5068F344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9A9A"/>
                </a:solidFill>
              </a:defRPr>
            </a:pPr>
            <a:r>
              <a:rPr sz="975" b="1">
                <a:solidFill>
                  <a:srgbClr val="149A9A"/>
                </a:solidFill>
              </a:rPr>
              <a:t>ОПЕРАЦИОННЫЕ РАСХОДЫ</a:t>
            </a:r>
          </a:p>
        </p:txBody>
      </p:sp>
      <p:sp>
        <p:nvSpPr>
          <p:cNvPr id="5" name="capex-title">
            <a:extLst xmlns:a="http://schemas.openxmlformats.org/drawingml/2006/main">
              <a:ext uri="{FF2B5EF4-FFF2-40B4-BE49-F238E27FC236}">
                <a16:creationId xmlns:a16="http://schemas.microsoft.com/office/drawing/2014/main" id="{942DA377-42AF-4004-A2CB-ADD70772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764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9A9A"/>
                </a:solidFill>
              </a:defRPr>
            </a:pPr>
            <a:r>
              <a:rPr sz="975" b="1">
                <a:solidFill>
                  <a:srgbClr val="149A9A"/>
                </a:solidFill>
              </a:rPr>
              <a:t>КАПИТАЛЬНЫЕ РАСХОДЫ</a:t>
            </a:r>
          </a:p>
        </p:txBody>
      </p:sp>
      <p:sp>
        <p:nvSpPr>
          <p:cNvPr id="6" name="threshold-0-0">
            <a:extLst xmlns:a="http://schemas.openxmlformats.org/drawingml/2006/main">
              <a:ext uri="{FF2B5EF4-FFF2-40B4-BE49-F238E27FC236}">
                <a16:creationId xmlns:a16="http://schemas.microsoft.com/office/drawing/2014/main" id="{740DE14A-77E8-4F39-A0EF-4107CB2D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5143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E"/>
            </a:solidFill>
            <a:prstDash val="solid"/>
          </a:ln>
        </p:spPr>
      </p:sp>
      <p:sp>
        <p:nvSpPr>
          <p:cNvPr id="7" name="amount-0-0">
            <a:extLst xmlns:a="http://schemas.openxmlformats.org/drawingml/2006/main">
              <a:ext uri="{FF2B5EF4-FFF2-40B4-BE49-F238E27FC236}">
                <a16:creationId xmlns:a16="http://schemas.microsoft.com/office/drawing/2014/main" id="{3C33FDB9-2005-456F-B402-6A154640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до 100 000 ₽</a:t>
            </a:r>
          </a:p>
        </p:txBody>
      </p:sp>
      <p:sp>
        <p:nvSpPr>
          <p:cNvPr id="8" name="route-0-0">
            <a:extLst xmlns:a="http://schemas.openxmlformats.org/drawingml/2006/main">
              <a:ext uri="{FF2B5EF4-FFF2-40B4-BE49-F238E27FC236}">
                <a16:creationId xmlns:a16="http://schemas.microsoft.com/office/drawing/2014/main" id="{18949973-A53D-44D4-B9A9-E258CBC2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1937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7080"/>
                </a:solidFill>
              </a:defRPr>
            </a:pPr>
            <a:r>
              <a:rPr sz="1050">
                <a:solidFill>
                  <a:srgbClr val="607080"/>
                </a:solidFill>
              </a:rPr>
              <a:t>Руководитель подразделения · 1 предложение</a:t>
            </a:r>
          </a:p>
        </p:txBody>
      </p:sp>
      <p:sp>
        <p:nvSpPr>
          <p:cNvPr id="9" name="threshold-0-1">
            <a:extLst xmlns:a="http://schemas.openxmlformats.org/drawingml/2006/main">
              <a:ext uri="{FF2B5EF4-FFF2-40B4-BE49-F238E27FC236}">
                <a16:creationId xmlns:a16="http://schemas.microsoft.com/office/drawing/2014/main" id="{3E77CD60-F393-4687-AB56-4D21AB4A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143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E"/>
            </a:solidFill>
            <a:prstDash val="solid"/>
          </a:ln>
        </p:spPr>
      </p:sp>
      <p:sp>
        <p:nvSpPr>
          <p:cNvPr id="10" name="amount-0-1">
            <a:extLst xmlns:a="http://schemas.openxmlformats.org/drawingml/2006/main">
              <a:ext uri="{FF2B5EF4-FFF2-40B4-BE49-F238E27FC236}">
                <a16:creationId xmlns:a16="http://schemas.microsoft.com/office/drawing/2014/main" id="{F8D4D090-5B2A-49FA-B76F-BE657355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100 001–500 000 ₽</a:t>
            </a:r>
          </a:p>
        </p:txBody>
      </p:sp>
      <p:sp>
        <p:nvSpPr>
          <p:cNvPr id="11" name="route-0-1">
            <a:extLst xmlns:a="http://schemas.openxmlformats.org/drawingml/2006/main">
              <a:ext uri="{FF2B5EF4-FFF2-40B4-BE49-F238E27FC236}">
                <a16:creationId xmlns:a16="http://schemas.microsoft.com/office/drawing/2014/main" id="{7BF5BB44-3922-4F3F-BDC8-2AF76ECB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0047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7080"/>
                </a:solidFill>
              </a:defRPr>
            </a:pPr>
            <a:r>
              <a:rPr sz="1050">
                <a:solidFill>
                  <a:srgbClr val="607080"/>
                </a:solidFill>
              </a:rPr>
              <a:t>Финансовый контролёр + руководитель · 2 предложения</a:t>
            </a:r>
          </a:p>
        </p:txBody>
      </p:sp>
      <p:sp>
        <p:nvSpPr>
          <p:cNvPr id="12" name="threshold-0-2">
            <a:extLst xmlns:a="http://schemas.openxmlformats.org/drawingml/2006/main">
              <a:ext uri="{FF2B5EF4-FFF2-40B4-BE49-F238E27FC236}">
                <a16:creationId xmlns:a16="http://schemas.microsoft.com/office/drawing/2014/main" id="{F4EEF720-6F14-4168-A68A-374E2012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5143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E"/>
            </a:solidFill>
            <a:prstDash val="solid"/>
          </a:ln>
        </p:spPr>
      </p:sp>
      <p:sp>
        <p:nvSpPr>
          <p:cNvPr id="13" name="amount-0-2">
            <a:extLst xmlns:a="http://schemas.openxmlformats.org/drawingml/2006/main">
              <a:ext uri="{FF2B5EF4-FFF2-40B4-BE49-F238E27FC236}">
                <a16:creationId xmlns:a16="http://schemas.microsoft.com/office/drawing/2014/main" id="{B934A948-31F4-442E-A7CC-1F0A7313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свыше 500 000 ₽</a:t>
            </a:r>
          </a:p>
        </p:txBody>
      </p:sp>
      <p:sp>
        <p:nvSpPr>
          <p:cNvPr id="14" name="route-0-2">
            <a:extLst xmlns:a="http://schemas.openxmlformats.org/drawingml/2006/main">
              <a:ext uri="{FF2B5EF4-FFF2-40B4-BE49-F238E27FC236}">
                <a16:creationId xmlns:a16="http://schemas.microsoft.com/office/drawing/2014/main" id="{6902A8F4-D086-430C-B471-EE3A14C9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8157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7080"/>
                </a:solidFill>
              </a:defRPr>
            </a:pPr>
            <a:r>
              <a:rPr sz="1050">
                <a:solidFill>
                  <a:srgbClr val="607080"/>
                </a:solidFill>
              </a:rPr>
              <a:t>Закупочная комиссия · 3 предложения</a:t>
            </a:r>
          </a:p>
        </p:txBody>
      </p:sp>
      <p:sp>
        <p:nvSpPr>
          <p:cNvPr id="15" name="threshold-1-0">
            <a:extLst xmlns:a="http://schemas.openxmlformats.org/drawingml/2006/main">
              <a:ext uri="{FF2B5EF4-FFF2-40B4-BE49-F238E27FC236}">
                <a16:creationId xmlns:a16="http://schemas.microsoft.com/office/drawing/2014/main" id="{6C56D086-97C9-476F-ADF9-3FC97F33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57450"/>
            <a:ext cx="5143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E"/>
            </a:solidFill>
            <a:prstDash val="solid"/>
          </a:ln>
        </p:spPr>
      </p:sp>
      <p:sp>
        <p:nvSpPr>
          <p:cNvPr id="16" name="amount-1-0">
            <a:extLst xmlns:a="http://schemas.openxmlformats.org/drawingml/2006/main">
              <a:ext uri="{FF2B5EF4-FFF2-40B4-BE49-F238E27FC236}">
                <a16:creationId xmlns:a16="http://schemas.microsoft.com/office/drawing/2014/main" id="{2CFF6C63-B426-4D30-82DA-61E08400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47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до 250 000 ₽</a:t>
            </a:r>
          </a:p>
        </p:txBody>
      </p:sp>
      <p:sp>
        <p:nvSpPr>
          <p:cNvPr id="17" name="route-1-0">
            <a:extLst xmlns:a="http://schemas.openxmlformats.org/drawingml/2006/main">
              <a:ext uri="{FF2B5EF4-FFF2-40B4-BE49-F238E27FC236}">
                <a16:creationId xmlns:a16="http://schemas.microsoft.com/office/drawing/2014/main" id="{8BEBF28A-4913-419D-95BB-A1A03B36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1937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7080"/>
                </a:solidFill>
              </a:defRPr>
            </a:pPr>
            <a:r>
              <a:rPr sz="1050">
                <a:solidFill>
                  <a:srgbClr val="607080"/>
                </a:solidFill>
              </a:rPr>
              <a:t>Владелец бюджета + финансовый контролёр · 2 предложения</a:t>
            </a:r>
          </a:p>
        </p:txBody>
      </p:sp>
      <p:sp>
        <p:nvSpPr>
          <p:cNvPr id="18" name="threshold-1-1">
            <a:extLst xmlns:a="http://schemas.openxmlformats.org/drawingml/2006/main">
              <a:ext uri="{FF2B5EF4-FFF2-40B4-BE49-F238E27FC236}">
                <a16:creationId xmlns:a16="http://schemas.microsoft.com/office/drawing/2014/main" id="{5A14265C-1597-42B2-8B69-49114250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38550"/>
            <a:ext cx="5143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E"/>
            </a:solidFill>
            <a:prstDash val="solid"/>
          </a:ln>
        </p:spPr>
      </p:sp>
      <p:sp>
        <p:nvSpPr>
          <p:cNvPr id="19" name="amount-1-1">
            <a:extLst xmlns:a="http://schemas.openxmlformats.org/drawingml/2006/main">
              <a:ext uri="{FF2B5EF4-FFF2-40B4-BE49-F238E27FC236}">
                <a16:creationId xmlns:a16="http://schemas.microsoft.com/office/drawing/2014/main" id="{3BED977A-6CAE-4C7B-A5E7-166B7C44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29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250 001–1 000 000 ₽</a:t>
            </a:r>
          </a:p>
        </p:txBody>
      </p:sp>
      <p:sp>
        <p:nvSpPr>
          <p:cNvPr id="20" name="route-1-1">
            <a:extLst xmlns:a="http://schemas.openxmlformats.org/drawingml/2006/main">
              <a:ext uri="{FF2B5EF4-FFF2-40B4-BE49-F238E27FC236}">
                <a16:creationId xmlns:a16="http://schemas.microsoft.com/office/drawing/2014/main" id="{476BA34E-FB31-463F-AE63-76AA526B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0047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7080"/>
                </a:solidFill>
              </a:defRPr>
            </a:pPr>
            <a:r>
              <a:rPr sz="1050">
                <a:solidFill>
                  <a:srgbClr val="607080"/>
                </a:solidFill>
              </a:rPr>
              <a:t>Закупочная комиссия + CFO · 3 предложения</a:t>
            </a:r>
          </a:p>
        </p:txBody>
      </p:sp>
      <p:sp>
        <p:nvSpPr>
          <p:cNvPr id="21" name="threshold-1-2">
            <a:extLst xmlns:a="http://schemas.openxmlformats.org/drawingml/2006/main">
              <a:ext uri="{FF2B5EF4-FFF2-40B4-BE49-F238E27FC236}">
                <a16:creationId xmlns:a16="http://schemas.microsoft.com/office/drawing/2014/main" id="{D32662BD-50AC-4A6F-BF16-64F3930F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19650"/>
            <a:ext cx="5143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E"/>
            </a:solidFill>
            <a:prstDash val="solid"/>
          </a:ln>
        </p:spPr>
      </p:sp>
      <p:sp>
        <p:nvSpPr>
          <p:cNvPr id="22" name="amount-1-2">
            <a:extLst xmlns:a="http://schemas.openxmlformats.org/drawingml/2006/main">
              <a:ext uri="{FF2B5EF4-FFF2-40B4-BE49-F238E27FC236}">
                <a16:creationId xmlns:a16="http://schemas.microsoft.com/office/drawing/2014/main" id="{843018F6-119C-442D-A9C8-1A1C3D03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10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свыше 1 000 000 ₽</a:t>
            </a:r>
          </a:p>
        </p:txBody>
      </p:sp>
      <p:sp>
        <p:nvSpPr>
          <p:cNvPr id="23" name="route-1-2">
            <a:extLst xmlns:a="http://schemas.openxmlformats.org/drawingml/2006/main">
              <a:ext uri="{FF2B5EF4-FFF2-40B4-BE49-F238E27FC236}">
                <a16:creationId xmlns:a16="http://schemas.microsoft.com/office/drawing/2014/main" id="{53E3F86C-A63C-43B5-B703-9867D929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98157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7080"/>
                </a:solidFill>
              </a:defRPr>
            </a:pPr>
            <a:r>
              <a:rPr sz="1050">
                <a:solidFill>
                  <a:srgbClr val="607080"/>
                </a:solidFill>
              </a:rPr>
              <a:t>Генеральный директор + комиссия · 3 предложения</a:t>
            </a:r>
          </a:p>
        </p:txBody>
      </p:sp>
      <p:sp>
        <p:nvSpPr>
          <p:cNvPr id="24" name="footer-2">
            <a:extLst xmlns:a="http://schemas.openxmlformats.org/drawingml/2006/main">
              <a:ext uri="{FF2B5EF4-FFF2-40B4-BE49-F238E27FC236}">
                <a16:creationId xmlns:a16="http://schemas.microsoft.com/office/drawing/2014/main" id="{D63EFF9D-CD27-4F10-8DA5-9BBFD044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07080"/>
                </a:solidFill>
              </a:defRPr>
            </a:pPr>
            <a:r>
              <a:rPr sz="750" b="1">
                <a:solidFill>
                  <a:srgbClr val="607080"/>
                </a:solidFill>
              </a:rPr>
              <a:t>ACME CORP  /  Пороги без НДС</a:t>
            </a:r>
          </a:p>
        </p:txBody>
      </p:sp>
      <p:sp>
        <p:nvSpPr>
          <p:cNvPr id="25" name="page-2">
            <a:extLst xmlns:a="http://schemas.openxmlformats.org/drawingml/2006/main">
              <a:ext uri="{FF2B5EF4-FFF2-40B4-BE49-F238E27FC236}">
                <a16:creationId xmlns:a16="http://schemas.microsoft.com/office/drawing/2014/main" id="{9AEA9448-FEEF-4802-B34F-EB03A05D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49A9A"/>
                </a:solidFill>
              </a:defRPr>
            </a:pPr>
            <a:r>
              <a:rPr sz="750" b="1">
                <a:solidFill>
                  <a:srgbClr val="149A9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763704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yebrow">
            <a:extLst xmlns:a="http://schemas.openxmlformats.org/drawingml/2006/main">
              <a:ext uri="{FF2B5EF4-FFF2-40B4-BE49-F238E27FC236}">
                <a16:creationId xmlns:a16="http://schemas.microsoft.com/office/drawing/2014/main" id="{47BE04EE-78EB-4B7F-8EFC-E1B2412A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49A9A"/>
                </a:solidFill>
              </a:defRPr>
            </a:pPr>
            <a:r>
              <a:rPr sz="900" b="1">
                <a:solidFill>
                  <a:srgbClr val="149A9A"/>
                </a:solidFill>
              </a:rPr>
              <a:t>КОНТРОЛЬНЫЙ МАРШРУТ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7365BCE-853A-42A7-9A2E-E7062F9E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От потребности до сохранённого решения</a:t>
            </a:r>
          </a:p>
        </p:txBody>
      </p:sp>
      <p:sp>
        <p:nvSpPr>
          <p:cNvPr id="3" name="step-01">
            <a:extLst xmlns:a="http://schemas.openxmlformats.org/drawingml/2006/main">
              <a:ext uri="{FF2B5EF4-FFF2-40B4-BE49-F238E27FC236}">
                <a16:creationId xmlns:a16="http://schemas.microsoft.com/office/drawing/2014/main" id="{0A469F65-BE38-47DF-B0C0-9CF2D33C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943100" cy="2381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4F1F1"/>
          </a:solidFill>
          <a:ln xmlns:a="http://schemas.openxmlformats.org/drawingml/2006/main" w="9525">
            <a:solidFill>
              <a:srgbClr val="149A9A"/>
            </a:solidFill>
            <a:prstDash val="solid"/>
          </a:ln>
        </p:spPr>
      </p:sp>
      <p:sp>
        <p:nvSpPr>
          <p:cNvPr id="4" name="step-number-01">
            <a:extLst xmlns:a="http://schemas.openxmlformats.org/drawingml/2006/main">
              <a:ext uri="{FF2B5EF4-FFF2-40B4-BE49-F238E27FC236}">
                <a16:creationId xmlns:a16="http://schemas.microsoft.com/office/drawing/2014/main" id="{E8DBA052-4972-44A4-B2A6-C702F29A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9A9A"/>
                </a:solidFill>
              </a:defRPr>
            </a:pPr>
            <a:r>
              <a:rPr sz="1500" b="1">
                <a:solidFill>
                  <a:srgbClr val="149A9A"/>
                </a:solidFill>
              </a:rPr>
              <a:t>01</a:t>
            </a:r>
          </a:p>
        </p:txBody>
      </p:sp>
      <p:sp>
        <p:nvSpPr>
          <p:cNvPr id="5" name="step-heading-01">
            <a:extLst xmlns:a="http://schemas.openxmlformats.org/drawingml/2006/main">
              <a:ext uri="{FF2B5EF4-FFF2-40B4-BE49-F238E27FC236}">
                <a16:creationId xmlns:a16="http://schemas.microsoft.com/office/drawing/2014/main" id="{22DCB198-7540-4D51-A135-381B42CB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Определить тип</a:t>
            </a:r>
          </a:p>
        </p:txBody>
      </p:sp>
      <p:sp>
        <p:nvSpPr>
          <p:cNvPr id="6" name="step-body-01">
            <a:extLst xmlns:a="http://schemas.openxmlformats.org/drawingml/2006/main">
              <a:ext uri="{FF2B5EF4-FFF2-40B4-BE49-F238E27FC236}">
                <a16:creationId xmlns:a16="http://schemas.microsoft.com/office/drawing/2014/main" id="{B0CDDE92-60FB-431B-813E-BF2996D0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152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7080"/>
                </a:solidFill>
              </a:defRPr>
            </a:pPr>
            <a:r>
              <a:rPr sz="975">
                <a:solidFill>
                  <a:srgbClr val="607080"/>
                </a:solidFill>
              </a:rPr>
              <a:t>Зафиксировать OpEx или CapEx и владельца бюджета.</a:t>
            </a:r>
          </a:p>
        </p:txBody>
      </p:sp>
      <p:sp>
        <p:nvSpPr>
          <p:cNvPr id="7" name="step-02">
            <a:extLst xmlns:a="http://schemas.openxmlformats.org/drawingml/2006/main">
              <a:ext uri="{FF2B5EF4-FFF2-40B4-BE49-F238E27FC236}">
                <a16:creationId xmlns:a16="http://schemas.microsoft.com/office/drawing/2014/main" id="{7102D4F3-1420-458A-BD4E-057C529A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76450"/>
            <a:ext cx="1943100" cy="2381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E"/>
            </a:solidFill>
            <a:prstDash val="solid"/>
          </a:ln>
        </p:spPr>
      </p:sp>
      <p:sp>
        <p:nvSpPr>
          <p:cNvPr id="8" name="step-number-02">
            <a:extLst xmlns:a="http://schemas.openxmlformats.org/drawingml/2006/main">
              <a:ext uri="{FF2B5EF4-FFF2-40B4-BE49-F238E27FC236}">
                <a16:creationId xmlns:a16="http://schemas.microsoft.com/office/drawing/2014/main" id="{490EA6E7-0817-434A-BCF7-FB705F09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669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9A9A"/>
                </a:solidFill>
              </a:defRPr>
            </a:pPr>
            <a:r>
              <a:rPr sz="1500" b="1">
                <a:solidFill>
                  <a:srgbClr val="149A9A"/>
                </a:solidFill>
              </a:rPr>
              <a:t>02</a:t>
            </a:r>
          </a:p>
        </p:txBody>
      </p:sp>
      <p:sp>
        <p:nvSpPr>
          <p:cNvPr id="9" name="step-heading-02">
            <a:extLst xmlns:a="http://schemas.openxmlformats.org/drawingml/2006/main">
              <a:ext uri="{FF2B5EF4-FFF2-40B4-BE49-F238E27FC236}">
                <a16:creationId xmlns:a16="http://schemas.microsoft.com/office/drawing/2014/main" id="{7BE8832E-8A2D-4963-8173-BFA7832E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0035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Собрать предложения</a:t>
            </a:r>
          </a:p>
        </p:txBody>
      </p:sp>
      <p:sp>
        <p:nvSpPr>
          <p:cNvPr id="10" name="step-body-02">
            <a:extLst xmlns:a="http://schemas.openxmlformats.org/drawingml/2006/main">
              <a:ext uri="{FF2B5EF4-FFF2-40B4-BE49-F238E27FC236}">
                <a16:creationId xmlns:a16="http://schemas.microsoft.com/office/drawing/2014/main" id="{D3825DCD-15B4-4F00-816B-BAB8CD9C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90900"/>
            <a:ext cx="152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7080"/>
                </a:solidFill>
              </a:defRPr>
            </a:pPr>
            <a:r>
              <a:rPr sz="975">
                <a:solidFill>
                  <a:srgbClr val="607080"/>
                </a:solidFill>
              </a:rPr>
              <a:t>Получить требуемое число сопоставимых коммерческих предложений.</a:t>
            </a:r>
          </a:p>
        </p:txBody>
      </p:sp>
      <p:sp>
        <p:nvSpPr>
          <p:cNvPr id="11" name="step-03">
            <a:extLst xmlns:a="http://schemas.openxmlformats.org/drawingml/2006/main">
              <a:ext uri="{FF2B5EF4-FFF2-40B4-BE49-F238E27FC236}">
                <a16:creationId xmlns:a16="http://schemas.microsoft.com/office/drawing/2014/main" id="{09DDF863-472E-4C32-9C85-7D72B264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76450"/>
            <a:ext cx="1943100" cy="2381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E"/>
            </a:solidFill>
            <a:prstDash val="solid"/>
          </a:ln>
        </p:spPr>
      </p:sp>
      <p:sp>
        <p:nvSpPr>
          <p:cNvPr id="12" name="step-number-03">
            <a:extLst xmlns:a="http://schemas.openxmlformats.org/drawingml/2006/main">
              <a:ext uri="{FF2B5EF4-FFF2-40B4-BE49-F238E27FC236}">
                <a16:creationId xmlns:a16="http://schemas.microsoft.com/office/drawing/2014/main" id="{2A227334-6A4F-4C16-9DB1-57C5AD7F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669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9A9A"/>
                </a:solidFill>
              </a:defRPr>
            </a:pPr>
            <a:r>
              <a:rPr sz="1500" b="1">
                <a:solidFill>
                  <a:srgbClr val="149A9A"/>
                </a:solidFill>
              </a:rPr>
              <a:t>03</a:t>
            </a:r>
          </a:p>
        </p:txBody>
      </p:sp>
      <p:sp>
        <p:nvSpPr>
          <p:cNvPr id="13" name="step-heading-03">
            <a:extLst xmlns:a="http://schemas.openxmlformats.org/drawingml/2006/main">
              <a:ext uri="{FF2B5EF4-FFF2-40B4-BE49-F238E27FC236}">
                <a16:creationId xmlns:a16="http://schemas.microsoft.com/office/drawing/2014/main" id="{6DD5A569-D45E-4641-8BBB-0C636891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0035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Проверить поставщика</a:t>
            </a:r>
          </a:p>
        </p:txBody>
      </p:sp>
      <p:sp>
        <p:nvSpPr>
          <p:cNvPr id="14" name="step-body-03">
            <a:extLst xmlns:a="http://schemas.openxmlformats.org/drawingml/2006/main">
              <a:ext uri="{FF2B5EF4-FFF2-40B4-BE49-F238E27FC236}">
                <a16:creationId xmlns:a16="http://schemas.microsoft.com/office/drawing/2014/main" id="{D04CD61F-163E-48A8-B214-DBB8C3CB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90900"/>
            <a:ext cx="152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7080"/>
                </a:solidFill>
              </a:defRPr>
            </a:pPr>
            <a:r>
              <a:rPr sz="975">
                <a:solidFill>
                  <a:srgbClr val="607080"/>
                </a:solidFill>
              </a:rPr>
              <a:t>Проверить реквизиты, конфликт интересов и требования ИБ.</a:t>
            </a:r>
          </a:p>
        </p:txBody>
      </p:sp>
      <p:sp>
        <p:nvSpPr>
          <p:cNvPr id="15" name="step-04">
            <a:extLst xmlns:a="http://schemas.openxmlformats.org/drawingml/2006/main">
              <a:ext uri="{FF2B5EF4-FFF2-40B4-BE49-F238E27FC236}">
                <a16:creationId xmlns:a16="http://schemas.microsoft.com/office/drawing/2014/main" id="{144B3355-B38A-48E4-A0E0-5ABAF94E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76450"/>
            <a:ext cx="1943100" cy="2381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E"/>
            </a:solidFill>
            <a:prstDash val="solid"/>
          </a:ln>
        </p:spPr>
      </p:sp>
      <p:sp>
        <p:nvSpPr>
          <p:cNvPr id="16" name="step-number-04">
            <a:extLst xmlns:a="http://schemas.openxmlformats.org/drawingml/2006/main">
              <a:ext uri="{FF2B5EF4-FFF2-40B4-BE49-F238E27FC236}">
                <a16:creationId xmlns:a16="http://schemas.microsoft.com/office/drawing/2014/main" id="{F7A0A99F-811C-4389-9958-E2FB9A31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669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9A9A"/>
                </a:solidFill>
              </a:defRPr>
            </a:pPr>
            <a:r>
              <a:rPr sz="1500" b="1">
                <a:solidFill>
                  <a:srgbClr val="149A9A"/>
                </a:solidFill>
              </a:rPr>
              <a:t>04</a:t>
            </a:r>
          </a:p>
        </p:txBody>
      </p:sp>
      <p:sp>
        <p:nvSpPr>
          <p:cNvPr id="17" name="step-heading-04">
            <a:extLst xmlns:a="http://schemas.openxmlformats.org/drawingml/2006/main">
              <a:ext uri="{FF2B5EF4-FFF2-40B4-BE49-F238E27FC236}">
                <a16:creationId xmlns:a16="http://schemas.microsoft.com/office/drawing/2014/main" id="{01FB1EB3-1911-4026-9EF6-FB3E5C45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0035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Согласовать</a:t>
            </a:r>
          </a:p>
        </p:txBody>
      </p:sp>
      <p:sp>
        <p:nvSpPr>
          <p:cNvPr id="18" name="step-body-04">
            <a:extLst xmlns:a="http://schemas.openxmlformats.org/drawingml/2006/main">
              <a:ext uri="{FF2B5EF4-FFF2-40B4-BE49-F238E27FC236}">
                <a16:creationId xmlns:a16="http://schemas.microsoft.com/office/drawing/2014/main" id="{4D7991A9-3903-4E6A-8DB3-08E77B28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90900"/>
            <a:ext cx="152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7080"/>
                </a:solidFill>
              </a:defRPr>
            </a:pPr>
            <a:r>
              <a:rPr sz="975">
                <a:solidFill>
                  <a:srgbClr val="607080"/>
                </a:solidFill>
              </a:rPr>
              <a:t>Направить пакет согласующим из соответствующей строки матрицы.</a:t>
            </a:r>
          </a:p>
        </p:txBody>
      </p:sp>
      <p:sp>
        <p:nvSpPr>
          <p:cNvPr id="19" name="step-05">
            <a:extLst xmlns:a="http://schemas.openxmlformats.org/drawingml/2006/main">
              <a:ext uri="{FF2B5EF4-FFF2-40B4-BE49-F238E27FC236}">
                <a16:creationId xmlns:a16="http://schemas.microsoft.com/office/drawing/2014/main" id="{91E61F6C-28F8-4080-A38D-8224C859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76450"/>
            <a:ext cx="1943100" cy="2381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E"/>
            </a:solidFill>
            <a:prstDash val="solid"/>
          </a:ln>
        </p:spPr>
      </p:sp>
      <p:sp>
        <p:nvSpPr>
          <p:cNvPr id="20" name="step-number-05">
            <a:extLst xmlns:a="http://schemas.openxmlformats.org/drawingml/2006/main">
              <a:ext uri="{FF2B5EF4-FFF2-40B4-BE49-F238E27FC236}">
                <a16:creationId xmlns:a16="http://schemas.microsoft.com/office/drawing/2014/main" id="{EF9EDA56-64F6-417A-A9FF-9274D592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669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9A9A"/>
                </a:solidFill>
              </a:defRPr>
            </a:pPr>
            <a:r>
              <a:rPr sz="1500" b="1">
                <a:solidFill>
                  <a:srgbClr val="149A9A"/>
                </a:solidFill>
              </a:rPr>
              <a:t>05</a:t>
            </a:r>
          </a:p>
        </p:txBody>
      </p:sp>
      <p:sp>
        <p:nvSpPr>
          <p:cNvPr id="21" name="step-heading-05">
            <a:extLst xmlns:a="http://schemas.openxmlformats.org/drawingml/2006/main">
              <a:ext uri="{FF2B5EF4-FFF2-40B4-BE49-F238E27FC236}">
                <a16:creationId xmlns:a16="http://schemas.microsoft.com/office/drawing/2014/main" id="{D12C699D-7ED1-4544-97EE-FA72ADAA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0035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Сохранить</a:t>
            </a:r>
          </a:p>
        </p:txBody>
      </p:sp>
      <p:sp>
        <p:nvSpPr>
          <p:cNvPr id="22" name="step-body-05">
            <a:extLst xmlns:a="http://schemas.openxmlformats.org/drawingml/2006/main">
              <a:ext uri="{FF2B5EF4-FFF2-40B4-BE49-F238E27FC236}">
                <a16:creationId xmlns:a16="http://schemas.microsoft.com/office/drawing/2014/main" id="{0DFE83FB-D65F-4505-B5B7-2C2BFA5D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390900"/>
            <a:ext cx="152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7080"/>
                </a:solidFill>
              </a:defRPr>
            </a:pPr>
            <a:r>
              <a:rPr sz="975">
                <a:solidFill>
                  <a:srgbClr val="607080"/>
                </a:solidFill>
              </a:rPr>
              <a:t>Хранить решение и предложения 5 лет для OpEx, 7 лет для CapEx.</a:t>
            </a:r>
          </a:p>
        </p:txBody>
      </p:sp>
      <p:sp>
        <p:nvSpPr>
          <p:cNvPr id="23" name="evidence-note">
            <a:extLst xmlns:a="http://schemas.openxmlformats.org/drawingml/2006/main">
              <a:ext uri="{FF2B5EF4-FFF2-40B4-BE49-F238E27FC236}">
                <a16:creationId xmlns:a16="http://schemas.microsoft.com/office/drawing/2014/main" id="{C19ACA4F-0815-43AB-8F7D-1B3593C8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820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  <a:prstDash val="solid"/>
          </a:ln>
        </p:spPr>
      </p:sp>
      <p:sp>
        <p:nvSpPr>
          <p:cNvPr id="24" name="evidence-label">
            <a:extLst xmlns:a="http://schemas.openxmlformats.org/drawingml/2006/main">
              <a:ext uri="{FF2B5EF4-FFF2-40B4-BE49-F238E27FC236}">
                <a16:creationId xmlns:a16="http://schemas.microsoft.com/office/drawing/2014/main" id="{EB547857-67C0-45FD-998D-C44AD7B3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054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7D1D0"/>
                </a:solidFill>
              </a:defRPr>
            </a:pPr>
            <a:r>
              <a:rPr sz="825" b="1">
                <a:solidFill>
                  <a:srgbClr val="77D1D0"/>
                </a:solidFill>
              </a:rPr>
              <a:t>ПОЛНЫЙ ПАКЕТ</a:t>
            </a:r>
          </a:p>
        </p:txBody>
      </p:sp>
      <p:sp>
        <p:nvSpPr>
          <p:cNvPr id="25" name="evidence-text">
            <a:extLst xmlns:a="http://schemas.openxmlformats.org/drawingml/2006/main">
              <a:ext uri="{FF2B5EF4-FFF2-40B4-BE49-F238E27FC236}">
                <a16:creationId xmlns:a16="http://schemas.microsoft.com/office/drawing/2014/main" id="{3F0D69C6-7EA4-430D-8795-415B205F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0863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Заявка · обоснование категории · предложения · проверка поставщика · решение согласующих · договор и счёт</a:t>
            </a:r>
          </a:p>
        </p:txBody>
      </p:sp>
      <p:sp>
        <p:nvSpPr>
          <p:cNvPr id="26" name="footer-3">
            <a:extLst xmlns:a="http://schemas.openxmlformats.org/drawingml/2006/main">
              <a:ext uri="{FF2B5EF4-FFF2-40B4-BE49-F238E27FC236}">
                <a16:creationId xmlns:a16="http://schemas.microsoft.com/office/drawing/2014/main" id="{D36BD551-5B1D-4A97-ABCE-EC06FFC2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07080"/>
                </a:solidFill>
              </a:defRPr>
            </a:pPr>
            <a:r>
              <a:rPr sz="750" b="1">
                <a:solidFill>
                  <a:srgbClr val="607080"/>
                </a:solidFill>
              </a:rPr>
              <a:t>ACME CORP  /  Процесс и доказательства</a:t>
            </a:r>
          </a:p>
        </p:txBody>
      </p:sp>
      <p:sp>
        <p:nvSpPr>
          <p:cNvPr id="27" name="page-3">
            <a:extLst xmlns:a="http://schemas.openxmlformats.org/drawingml/2006/main">
              <a:ext uri="{FF2B5EF4-FFF2-40B4-BE49-F238E27FC236}">
                <a16:creationId xmlns:a16="http://schemas.microsoft.com/office/drawing/2014/main" id="{8B066E56-CCD2-4636-8B79-A85278A5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49A9A"/>
                </a:solidFill>
              </a:defRPr>
            </a:pPr>
            <a:r>
              <a:rPr sz="750" b="1">
                <a:solidFill>
                  <a:srgbClr val="149A9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180150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2026-08-04T09:53:44.5960000Z</dcterms:created>
  <dcterms:modified xsi:type="dcterms:W3CDTF">2026-08-04T09:53:44.5960000Z</dcterms:modified>
</coreProperties>
</file>